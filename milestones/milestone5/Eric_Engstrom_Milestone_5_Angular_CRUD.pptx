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7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7" d="100"/>
          <a:sy n="97" d="100"/>
        </p:scale>
        <p:origin x="2004" y="30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42416" y="2514601"/>
            <a:ext cx="6600451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42416" y="4777380"/>
            <a:ext cx="6600451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8"/>
          <p:cNvSpPr/>
          <p:nvPr/>
        </p:nvSpPr>
        <p:spPr bwMode="auto">
          <a:xfrm>
            <a:off x="-31719" y="4321158"/>
            <a:ext cx="1395473" cy="781781"/>
          </a:xfrm>
          <a:custGeom>
            <a:avLst/>
            <a:gdLst/>
            <a:ahLst/>
            <a:cxnLst/>
            <a:rect l="l" t="t" r="r" b="b"/>
            <a:pathLst>
              <a:path w="8042" h="10000">
                <a:moveTo>
                  <a:pt x="5799" y="10000"/>
                </a:moveTo>
                <a:cubicBezTo>
                  <a:pt x="5880" y="10000"/>
                  <a:pt x="5934" y="9940"/>
                  <a:pt x="5961" y="9880"/>
                </a:cubicBezTo>
                <a:cubicBezTo>
                  <a:pt x="5961" y="9820"/>
                  <a:pt x="5988" y="9820"/>
                  <a:pt x="5988" y="9820"/>
                </a:cubicBezTo>
                <a:lnTo>
                  <a:pt x="8042" y="5260"/>
                </a:lnTo>
                <a:cubicBezTo>
                  <a:pt x="8096" y="5140"/>
                  <a:pt x="8096" y="4901"/>
                  <a:pt x="8042" y="4721"/>
                </a:cubicBezTo>
                <a:lnTo>
                  <a:pt x="5988" y="221"/>
                </a:lnTo>
                <a:cubicBezTo>
                  <a:pt x="5988" y="160"/>
                  <a:pt x="5961" y="160"/>
                  <a:pt x="5961" y="160"/>
                </a:cubicBezTo>
                <a:cubicBezTo>
                  <a:pt x="5934" y="101"/>
                  <a:pt x="5880" y="41"/>
                  <a:pt x="5799" y="41"/>
                </a:cubicBezTo>
                <a:lnTo>
                  <a:pt x="18" y="0"/>
                </a:lnTo>
                <a:cubicBezTo>
                  <a:pt x="12" y="3330"/>
                  <a:pt x="6" y="6661"/>
                  <a:pt x="0" y="9991"/>
                </a:cubicBezTo>
                <a:lnTo>
                  <a:pt x="5799" y="10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23334" y="4529541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63511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1" y="624110"/>
            <a:ext cx="6589199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42415" y="2133600"/>
            <a:ext cx="6591985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76215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2074562"/>
            <a:ext cx="6591985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3581400"/>
            <a:ext cx="659198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19568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42416" y="2136706"/>
            <a:ext cx="3197531" cy="376739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37307" y="2136706"/>
            <a:ext cx="3197093" cy="376739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787783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71799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65352" y="2226626"/>
            <a:ext cx="287459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942415" y="2802888"/>
            <a:ext cx="3197532" cy="310570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6154" y="2223398"/>
            <a:ext cx="28732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333715" y="2799660"/>
            <a:ext cx="3195680" cy="310570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787783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17932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0" y="624110"/>
            <a:ext cx="6589200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67572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80064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446088"/>
            <a:ext cx="2629584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43494" y="446089"/>
            <a:ext cx="3790906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1598613"/>
            <a:ext cx="2629584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40457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4800600"/>
            <a:ext cx="6591985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42415" y="634965"/>
            <a:ext cx="6591985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367338"/>
            <a:ext cx="6591985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5904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609600"/>
            <a:ext cx="6591985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4354046"/>
            <a:ext cx="6591985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21444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88123" y="609600"/>
            <a:ext cx="6109587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15972" y="3505200"/>
            <a:ext cx="5653888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4354046"/>
            <a:ext cx="6591985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1808316" y="64800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9533" y="290530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85711696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2438401"/>
            <a:ext cx="6591985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591985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707295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2188123" y="609600"/>
            <a:ext cx="6109587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2415" y="4343400"/>
            <a:ext cx="6688292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688292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1808316" y="64800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69533" y="290530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45309608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6" y="627407"/>
            <a:ext cx="6591984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2415" y="4343400"/>
            <a:ext cx="6591985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591985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477122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891633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78535" y="627406"/>
            <a:ext cx="1656132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42416" y="627406"/>
            <a:ext cx="4716348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90563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Group 35"/>
          <p:cNvGrpSpPr/>
          <p:nvPr/>
        </p:nvGrpSpPr>
        <p:grpSpPr>
          <a:xfrm>
            <a:off x="1" y="228600"/>
            <a:ext cx="1981200" cy="6638628"/>
            <a:chOff x="2487613" y="285750"/>
            <a:chExt cx="2428875" cy="5654676"/>
          </a:xfrm>
          <a:solidFill>
            <a:schemeClr val="accent1">
              <a:lumMod val="75000"/>
              <a:alpha val="40000"/>
            </a:schemeClr>
          </a:solidFill>
        </p:grpSpPr>
        <p:sp>
          <p:nvSpPr>
            <p:cNvPr id="37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8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9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40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41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42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43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44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45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46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47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48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grpFill/>
            <a:ln>
              <a:noFill/>
            </a:ln>
          </p:spPr>
        </p:sp>
      </p:grpSp>
      <p:grpSp>
        <p:nvGrpSpPr>
          <p:cNvPr id="49" name="Group 48"/>
          <p:cNvGrpSpPr/>
          <p:nvPr/>
        </p:nvGrpSpPr>
        <p:grpSpPr>
          <a:xfrm>
            <a:off x="20421" y="-318"/>
            <a:ext cx="1952272" cy="6853571"/>
            <a:chOff x="6627813" y="195220"/>
            <a:chExt cx="1952625" cy="5678531"/>
          </a:xfrm>
          <a:solidFill>
            <a:schemeClr val="accent1"/>
          </a:solidFill>
        </p:grpSpPr>
        <p:sp>
          <p:nvSpPr>
            <p:cNvPr id="50" name="Freeform 27"/>
            <p:cNvSpPr/>
            <p:nvPr/>
          </p:nvSpPr>
          <p:spPr bwMode="auto">
            <a:xfrm>
              <a:off x="6627813" y="195220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51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52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53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54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55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56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57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58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59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60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61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grpFill/>
            <a:ln>
              <a:noFill/>
            </a:ln>
          </p:spPr>
        </p:sp>
      </p:grpSp>
      <p:sp>
        <p:nvSpPr>
          <p:cNvPr id="62" name="Rectangle 6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945200" y="624110"/>
            <a:ext cx="6589200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2133600"/>
            <a:ext cx="6591985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772400" y="6135089"/>
            <a:ext cx="766380" cy="3701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42415" y="6135809"/>
            <a:ext cx="57164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11228" y="787783"/>
            <a:ext cx="58497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912407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3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Milestone 5: Angular Frontend CRUD Application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Eric Engstrom</a:t>
            </a:r>
          </a:p>
          <a:p>
            <a:r>
              <a:t>CST 391</a:t>
            </a:r>
          </a:p>
          <a:p>
            <a:r>
              <a:t>Milestone 5</a:t>
            </a:r>
          </a:p>
          <a:p>
            <a:r>
              <a:t>Full Stack Angular + REST API Integration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Angular frontend integrated with Express REST API</a:t>
            </a:r>
          </a:p>
          <a:p>
            <a:r>
              <a:t>• MySQL database used for persistent product storage</a:t>
            </a:r>
          </a:p>
          <a:p>
            <a:r>
              <a:t>• Application demonstrates full CRUD operations</a:t>
            </a:r>
          </a:p>
          <a:p>
            <a:r>
              <a:t>• UI communicates with backend using HTTP and JSON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Application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Angular frontend application</a:t>
            </a:r>
          </a:p>
          <a:p>
            <a:r>
              <a:t>• Express / Node REST API backend</a:t>
            </a:r>
          </a:p>
          <a:p>
            <a:r>
              <a:t>• MySQL relational database</a:t>
            </a:r>
          </a:p>
          <a:p>
            <a:r>
              <a:t>• Service layer handles HTTP communication</a:t>
            </a:r>
          </a:p>
          <a:p>
            <a:r>
              <a:t>• Layered architecture separates UI, services, and database access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Implemented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Product list page displaying all products</a:t>
            </a:r>
          </a:p>
          <a:p>
            <a:r>
              <a:t>• Create product form</a:t>
            </a:r>
          </a:p>
          <a:p>
            <a:r>
              <a:t>• Product detail page</a:t>
            </a:r>
          </a:p>
          <a:p>
            <a:r>
              <a:t>• Edit product functionality</a:t>
            </a:r>
          </a:p>
          <a:p>
            <a:r>
              <a:t>• Delete product confirmation</a:t>
            </a:r>
          </a:p>
          <a:p>
            <a:r>
              <a:t>• Angular Router navigation</a:t>
            </a:r>
          </a:p>
          <a:p>
            <a:r>
              <a:t>• Bootstrap styled user interface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CRUD Demonstration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Create: Add a new product using Angular form</a:t>
            </a:r>
          </a:p>
          <a:p>
            <a:r>
              <a:t>• Read: View product list and product details</a:t>
            </a:r>
          </a:p>
          <a:p>
            <a:r>
              <a:t>• Update: Modify existing product information</a:t>
            </a:r>
          </a:p>
          <a:p>
            <a:r>
              <a:t>• Delete: Remove product with confirmation dialog</a:t>
            </a:r>
          </a:p>
          <a:p>
            <a:r>
              <a:t>• UI updates immediately after each operation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Challenges Encountered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Configuring Angular standalone components</a:t>
            </a:r>
          </a:p>
          <a:p>
            <a:r>
              <a:t>• Handling Angular change detection behavior</a:t>
            </a:r>
          </a:p>
          <a:p>
            <a:r>
              <a:t>• Ensuring UI refresh after delete operations</a:t>
            </a:r>
          </a:p>
          <a:p>
            <a:r>
              <a:t>• Managing route navigation between views</a:t>
            </a:r>
          </a:p>
          <a:p>
            <a:r>
              <a:t>• Keeping documentation aligned with implementation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Known Issues and Limitations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Authentication and authorization not implemented</a:t>
            </a:r>
          </a:p>
          <a:p>
            <a:r>
              <a:t>• Form validation is basic</a:t>
            </a:r>
          </a:p>
          <a:p>
            <a:r>
              <a:t>• Pagination not implemented for large datasets</a:t>
            </a:r>
          </a:p>
          <a:p>
            <a:r>
              <a:t>• Error handling can be expanded</a:t>
            </a:r>
          </a:p>
          <a:p>
            <a:r>
              <a:t>• Application designed for development environment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Lessons Learned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Importance of maintaining REST API contracts</a:t>
            </a:r>
          </a:p>
          <a:p>
            <a:r>
              <a:t>• Benefits of layered architecture</a:t>
            </a:r>
          </a:p>
          <a:p>
            <a:r>
              <a:t>• Angular service layer simplifies API communication</a:t>
            </a:r>
          </a:p>
          <a:p>
            <a:r>
              <a:t>• Separation of concerns improves maintainability</a:t>
            </a:r>
          </a:p>
          <a:p>
            <a:r>
              <a:t>• Proper documentation supports system design clarity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Improvements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Add authentication and user roles</a:t>
            </a:r>
          </a:p>
          <a:p>
            <a:r>
              <a:t>• Improve client and server side validation</a:t>
            </a:r>
          </a:p>
          <a:p>
            <a:r>
              <a:t>• Add pagination and filtering for large datasets</a:t>
            </a:r>
          </a:p>
          <a:p>
            <a:r>
              <a:t>• Implement improved error handling</a:t>
            </a:r>
          </a:p>
          <a:p>
            <a:r>
              <a:t>• Prepare application for production deployment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Milestone 5 successfully demonstrates a complete Angular frontend integrated with a REST API backend. The system supports full CRUD operations and validates the full stack architecture. The application provides a stable foundation for testing and final presentation.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2C333A"/>
      </a:dk2>
      <a:lt2>
        <a:srgbClr val="D6ECED"/>
      </a:lt2>
      <a:accent1>
        <a:srgbClr val="DE32DE"/>
      </a:accent1>
      <a:accent2>
        <a:srgbClr val="F42B8A"/>
      </a:accent2>
      <a:accent3>
        <a:srgbClr val="349FE7"/>
      </a:accent3>
      <a:accent4>
        <a:srgbClr val="565FF8"/>
      </a:accent4>
      <a:accent5>
        <a:srgbClr val="876BE7"/>
      </a:accent5>
      <a:accent6>
        <a:srgbClr val="F268C2"/>
      </a:accent6>
      <a:hlink>
        <a:srgbClr val="F55CF9"/>
      </a:hlink>
      <a:folHlink>
        <a:srgbClr val="E8A0EE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F20B7C8E-B819-43F3-AAF9-EE50B1A8363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1</TotalTime>
  <Words>339</Words>
  <Application>Microsoft Office PowerPoint</Application>
  <PresentationFormat>On-screen Show (4:3)</PresentationFormat>
  <Paragraphs>56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Century Gothic</vt:lpstr>
      <vt:lpstr>Wingdings 3</vt:lpstr>
      <vt:lpstr>Wisp</vt:lpstr>
      <vt:lpstr>Milestone 5: Angular Frontend CRUD Application</vt:lpstr>
      <vt:lpstr>Project Overview</vt:lpstr>
      <vt:lpstr>Application Architecture</vt:lpstr>
      <vt:lpstr>Implemented Features</vt:lpstr>
      <vt:lpstr>CRUD Demonstration</vt:lpstr>
      <vt:lpstr>Challenges Encountered</vt:lpstr>
      <vt:lpstr>Known Issues and Limitations</vt:lpstr>
      <vt:lpstr>Lessons Learned</vt:lpstr>
      <vt:lpstr>Future Improvements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Eric Engstrom</dc:creator>
  <cp:keywords/>
  <dc:description>generated using python-pptx</dc:description>
  <cp:lastModifiedBy>Eric Engstrom</cp:lastModifiedBy>
  <cp:revision>2</cp:revision>
  <dcterms:created xsi:type="dcterms:W3CDTF">2013-01-27T09:14:16Z</dcterms:created>
  <dcterms:modified xsi:type="dcterms:W3CDTF">2026-03-15T22:08:16Z</dcterms:modified>
  <cp:category/>
</cp:coreProperties>
</file>